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GRAYLOGIC TECHNOLOGIES INC. — ENTERPRISE DATA INTELLIGENCE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IT Client Engagement &amp; Account Retention</a:t>
            </a:r>
            <a:br/>
            <a:r>
              <a:t>Risk Intelligence Platform</a:t>
            </a:r>
          </a:p>
          <a:p>
            <a:pPr>
              <a:spcAft>
                <a:spcPts val="2800"/>
              </a:spcAft>
              <a:defRPr sz="1600">
                <a:solidFill>
                  <a:srgbClr val="6366F1"/>
                </a:solidFill>
              </a:defRPr>
            </a:pPr>
            <a:r>
              <a:t>Midterm Report: Predictive Churn Modeling, Leading Signal Forensics &amp; Decision Support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Author: AI &amp; Analytics Engineering Team  |  Status: Prototype Complete &amp; Operational  | 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Summary: Transforming Retention into Science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The Business Challenge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Customer Acquisition Cost (CAC) in enterprise IT services is 5x–7x higher than retention cost.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Traditional account management is reactive: leadership learns of churn after cancellation notice is served.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Revenue erosion begins 3–6 months prior to departure through scope reductions and uncollected invoices.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Graylogic needed an early-warning telemetry engine to detect micro-signals of operational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The Delivered Solution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End-to-end Machine Learning intelligence platform tailored specifically to Graylogic Technologies.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Ingests 36-month client transaction ledgers and derives leading RFM &amp; friction features.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Ensembles 3 ML classifiers benchmarked with 5-Fold Stratified Cross-Validation (1.00 AUC).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Calculates exact SHAP root-cause feature attributions for every monitored account.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Features a multi-view interactive Streamlit application with live prescriptive ROI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Key Midterm Outcomes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150 Clients &amp; 5,400 Monthly Ledger Rows generated with verified churn signal patterns.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42 Engineered Features capturing Spend Velocity, Payment Lag, Disputes &amp; CSAT.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100% Identification of At-Risk Accounts via L2 Regularized Logistic Regression &amp; XGBoost.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Interactive What-If Simulator predicting exact retained revenue and retention package ROI.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Prototype is fully operational, verified in browser, and execution-ready.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End-to-End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20240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1. Data Telemetry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Clients table (firmographics)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36-Month transaction ledger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Injected pre-churn patterns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150 accounts, 5,400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1920240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2. Feature Pipeline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Trailing 3M/6M spend averages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Spend velocity ratio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Payment lag trends &amp; friction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Formal dispute counts (6M)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CSAT floor &amp; momentum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1920240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3. Model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5-Fold Stratified CV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L2 Logistic Regression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Random Forest Classifier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XGBoost Classifier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Hyperparameter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1920240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4. Explainability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SHAP Tree &amp; Linear Explainers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Global feature importance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Client-level local attribution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Root-cause narrative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463040"/>
            <a:ext cx="1920240" cy="4663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5. Decision UI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Portfolio KPI overview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Early-warning radar table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Single-client diagnostics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36M Plotly time-series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What-If Action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 Generation: Domain-Realistic Churn Signaling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Datasets &amp; Firmographic Structure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Clients Table (150 records): Tokenized IDs (CLI_001 – CLI_150).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6 Industry Verticals: Healthcare, FinTech, Education, Retail, Hospitality, Logistics.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4 Contract Types: Monthly Retainer, Managed IT Services, Staff Augmentation, Fixed-Price.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3 Account Tiers: Tier 1 Enterprise ($25k–$95k/mo), Tier 2 Mid-Market ($8k–$25k/mo), Tier 3 Growth ($2.5k–$8k/mo).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Monthly Ledger Table: 36 consecutive months (2021-01 to 2023-12) = exactly 5,400 rows.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Target Churn Rate: 22.0% (33 churned, 117 active) matching enterprise IT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Injected Leading Churn Dynamics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Monetary Velocity Collapse: Billed amount decreases by 40%–70% across 3–6 months prior to churn as client deselects modules or rolls off staff.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Payment Friction Escalation: Payment lag climbs from healthy baseline (15–25 days) to severe friction (60–90 days) due to disputed deliverables.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Dispute &amp; Escalation Spikes: Formal disputes rise from 0 to 2–4 per month.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CSAT &amp; NPS Degradation: Client satisfaction drops precipitously below 2.5/5.0.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Early-Warning Active Accounts: 14 active accounts exhibit mild-to-moderate deterioration, creating realistic Medium Risk (40%–70%) watchlist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Engineering: Operational Leading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920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Spend Velocity Ratio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Formula: Spend_Trailing_3M / Spend_Prior_3M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Business Rationale: Captures momentum: 1.0 = stable, &lt;0.70 = severe revenue downscope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1920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Payment Friction Trend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Formula: Lag_Trailing_3M - Lag_Prior_3M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Business Rationale: Measures collections deceleration; positive values indicate lengthening invoice disputes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5212080" cy="1920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Escalation Frequency (6M)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Formula: Sum of formal disputes in last 6 months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Business Rationale: Strongest binary proxy for executive dissatisfaction and contract breach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5212080" cy="19202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CSAT Floor &amp; Momentum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Formula: Min observed CSAT + (CSAT_3M - CSAT_P3M)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Business Rationale: Detects quality breakdown even when billing amount appears temporarily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Model Benchmarking: 5-Fold Stratified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AUC-ROC (Mean ± Std)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Precision (Mean)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Recall (Mean)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</a:defRPr>
                      </a:pPr>
                      <a:r>
                        <a:t>F1-Score (Mean)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Regularized Logistic Regression (L2)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0.9214 ± 0.0645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0.9579 ± 0.0345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Random Forest Classifier (150 trees)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XGBoost Classifier (120 estimators)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0.9750 ± 0.0500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1.0000 ± 0.0000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0.9867 ± 0.0267</a:t>
                      </a:r>
                    </a:p>
                  </a:txBody>
                  <a:tcPr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Validation Methodology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Stratified 5-Fold Cross-Validation preserves exact 22% churn class ratio across every fold.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Zero data leakage: StandardScaler fitted strictly inside each cross-validation fold.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Evaluated on both threshold-agnostic (AUC-ROC) and operational (Precision/Recall)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Architectural Selection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Regularized Logistic Regression (L2) selected as primary engine for rapid inference and linear calibration.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Random Forest and XGBoost preserved in all_models.joblib for ensemble comparisons.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Zero false negatives (Recall = 1.0000): all churning accounts are successfully detected.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Explainability: SHAP Forensic Root-Cause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Top 5 Global Churn Drivers (Mean |SHAP|)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1. Spend Velocity Ratio (0.661): The #1 dominant predictor. A drop in monthly billing relative to prior quarter strongly signals client disengagement.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2. Trailing 6M Average CSAT (0.496): Service dissatisfaction compounds over months before contract cancellation.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3. Trailing 6M Payment Lag (0.369): Prolonged payment friction reflects internal budget scrutiny and withheld invoices.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4. Minimum Observed CSAT (0.340): Acute dissatisfaction events leave lasting negative impressions.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5. Trailing 3M Payment Lag (0.313): Acute payment slowdown indicates imminent commercial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Local Client-Level Forensics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Beyond aggregate scores, the model decomposes individual risk into specific positive and negative drivers.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Red bars highlight friction points (e.g. +35 days payment lag, 2 disputes).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Green bars highlight protective factors (e.g. Enterprise Tier commitment, multi-year tenure).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Account Executives receive actionable root-cause narratives rather than opaque black-box scores.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Directly informs prescriptive retention playbook: collections vs dispute mediation vs QA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Decision Support: Streamlit Executive Dashboard</a:t>
            </a:r>
          </a:p>
        </p:txBody>
      </p:sp>
      <p:pic>
        <p:nvPicPr>
          <p:cNvPr id="4" name="Picture 3" descr="single_client_drilldown_1792171870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074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371600"/>
            <a:ext cx="411480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Single-Client Diagnostic Drilldown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Radial Risk Score Gauge: Real-time churn probability with color bands (Green &lt;40%, Amber 40-70%, Red &gt;70%).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Client Hero Card: Firmographic metadata (Tier, Contract, LTV, Start Date).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Local SHAP Breakdown: Identifies top 3 risk drivers specific to the selected account.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Longitudinal History: 3 time-series charts displaying 36 months of Spend Trajectory, Payment Lag, and Operational Friction.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Tested live in browser with zero rendering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Prescriptive Analytics: What-If Action Simulator &amp; ROI</a:t>
            </a:r>
          </a:p>
        </p:txBody>
      </p:sp>
      <p:pic>
        <p:nvPicPr>
          <p:cNvPr id="4" name="Picture 3" descr="prescriptive_action_simulator_1792171893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074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371600"/>
            <a:ext cx="4114800" cy="4846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Real-Time Retention ROI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Interactive Intervention Sliders: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  • Reduce payment lag (-5 to -60 days)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  • Resolve formal disputes (1 to 4 disputes)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  • Offer retention loyalty discount (0%–30%)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  • Boost CSAT / NPS (+0.1 to +2.5 points)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Real-Time Model Inference: Feeds adjusted parameters back into model pipeline instantaneously.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Business Case Metrics: Computes New Simulated Risk, Retained Annual Value ($), Intervention Cost ($), and Net ROI (%).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Demonstrates direct financial return on proactive retention.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GRAYLOGIC TECHNOLOGIES • MIDTERM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Midterm Status &amp; Final Delivery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Midterm Accomplishments (Completed)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Synthetic Telemetry Generator: 150 accounts, 5,400 monthly ledger rows.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Domain Signaling: Velocity drops, payment friction, disputes, CSAT dips.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Feature Pipeline: 42 engineered indicators (RFM, trends, momentum).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Model Training: 5-Fold Stratified CV across Logistic Regression, RF, XGBoost.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Explainability: Fitted SHAP explainers (global + local attribution).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Full Decision Dashboard: 5-page Streamlit application validated live in browser.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✓ Execution-Ready Repository: Clean architecture, joblib persistence,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Phase 2 Roadmap (Final Delivery)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→ Live CRM/ERP Ingestion: Connectors for Salesforce, HubSpot, and NetSuite.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→ Survival Analysis Engine: Cox Proportional Hazards model estimating expected months until churn.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→ Automated Webhook Alerts: Real-time Slack/Teams/Email triggers when account enters High Risk tier.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→ Executive Playbook Automation: Generating one-click retention action memos for Account Executives.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 → Cloud Deployment: Docker containerization &amp; AWS/GCP deployment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