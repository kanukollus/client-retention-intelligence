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 pitchFamily="2" charset="77"/>
      <p:regular r:id="rId13"/>
      <p:bold r:id="rId14"/>
      <p:italic r:id="rId15"/>
      <p:boldItalic r:id="rId16"/>
    </p:embeddedFont>
    <p:embeddedFont>
      <p:font typeface="Space Grotesk" pitchFamily="2" charset="77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42B8A3-58A2-4B05-9D87-121BD89F4145}">
  <a:tblStyle styleId="{0C42B8A3-58A2-4B05-9D87-121BD89F41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37"/>
  </p:normalViewPr>
  <p:slideViewPr>
    <p:cSldViewPr snapToGrid="0">
      <p:cViewPr varScale="1">
        <p:scale>
          <a:sx n="103" d="100"/>
          <a:sy n="103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486025" y="4522440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972050" y="4522440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1978372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CSE / ISYE / MGT 6748 • APPLIED ANALYTICS PRACTICUM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302222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Client Engagement &amp; Account Retention Intelligence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631852"/>
            <a:ext cx="6953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4A3B8"/>
                </a:solidFill>
                <a:latin typeface="Plus Jakarta Sans"/>
              </a:rPr>
              <a:t>Midterm Progress Report: Operational Pipeline, Dynamic Behavioral Features, Baseline Modeling, and Alpha Prototype for Graylogic Technologies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470052"/>
            <a:ext cx="16787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679602"/>
            <a:ext cx="167878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Analytics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876550" y="4470052"/>
            <a:ext cx="21431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INDUSTRY PARTNER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876550" y="4679602"/>
            <a:ext cx="2143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Graylogic Technologies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362575" y="4470052"/>
            <a:ext cx="246459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CHECKPOINT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362575" y="4679602"/>
            <a:ext cx="246459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Midterm Semester Review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2843212"/>
            <a:ext cx="3505200" cy="1841896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343400" y="2952750"/>
            <a:ext cx="3505200" cy="1622821"/>
          </a:xfrm>
          <a:prstGeom prst="roundRect">
            <a:avLst>
              <a:gd name="adj" fmla="val 704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077200" y="2843212"/>
            <a:ext cx="3505200" cy="1841896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480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31480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CONTEXT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Cost of Reactive Retention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" y="3567112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 Detection Gap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3900487"/>
            <a:ext cx="29908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Churn recognized post-cancellation notice.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648200" y="3457575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Silent Spend Decay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648200" y="3790950"/>
            <a:ext cx="29908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Billing erodes months prior to departure.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82000" y="3567112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Practicum Goal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82000" y="3900487"/>
            <a:ext cx="29908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90-day predictive early warning system.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609600" y="2552848"/>
            <a:ext cx="5334000" cy="2422624"/>
          </a:xfrm>
          <a:prstGeom prst="roundRect">
            <a:avLst>
              <a:gd name="adj" fmla="val 471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248400" y="2552848"/>
            <a:ext cx="5334000" cy="2422624"/>
          </a:xfrm>
          <a:prstGeom prst="roundRect">
            <a:avLst>
              <a:gd name="adj" fmla="val 471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&amp; GOVERNANCE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Pipeline &amp; Non-Disclosure Governance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76300" y="2819548"/>
            <a:ext cx="6000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TWO-TIER DATA MODEL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15100" y="2819548"/>
            <a:ext cx="5676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SYLLABUS NDA COMPLIANCE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76300" y="3067198"/>
            <a:ext cx="48958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Clients Tab: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Account metadata, verticals, and churn ground truth.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76300" y="3665190"/>
            <a:ext cx="48958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Monthly Ledger: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Monthly invoices, logged hours, and ticket logs.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4263181"/>
            <a:ext cx="48958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F172A"/>
                </a:solidFill>
                <a:latin typeface="Plus Jakarta Sans"/>
              </a:rPr>
              <a:t>Data Volume: 150 client accounts across 36 billing months (5,400 transactional rows).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15100" y="3067198"/>
            <a:ext cx="48958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Identity Tokenization: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Replaced company names with token hashes.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15100" y="3665190"/>
            <a:ext cx="48958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Financial Rescaling: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Applied linear scalar to all dollar revenues.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15100" y="4263181"/>
            <a:ext cx="489585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Leakage: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Strictly partitioned historical feature windows.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4260800" y="3383160"/>
            <a:ext cx="9525" cy="76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921525" y="3383160"/>
            <a:ext cx="9525" cy="76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OBSERVATIONS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Volume &amp; Operational Baselines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714797" y="3245048"/>
            <a:ext cx="144065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>
                <a:solidFill>
                  <a:srgbClr val="0284C7"/>
                </a:solidFill>
                <a:latin typeface="Space Grotesk"/>
              </a:rPr>
              <a:t>150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00422" y="4064198"/>
            <a:ext cx="28694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Tracked enterprise accounts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881413" y="3245048"/>
            <a:ext cx="2428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5,400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780210" y="4064198"/>
            <a:ext cx="26312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Monthly transactional logs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518326" y="3245048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>
                <a:solidFill>
                  <a:srgbClr val="EF4444"/>
                </a:solidFill>
                <a:latin typeface="Space Grotesk"/>
              </a:rPr>
              <a:t>22.0%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21873" y="4064198"/>
            <a:ext cx="28694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475569"/>
                </a:solidFill>
                <a:latin typeface="Plus Jakarta Sans"/>
              </a:rPr>
              <a:t>Historical baseline churn rate (33 churned / 117 retained)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609600" y="2783085"/>
            <a:ext cx="2633364" cy="266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242964" y="2783085"/>
            <a:ext cx="4827984" cy="266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09600" y="3554610"/>
            <a:ext cx="6119514" cy="266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729114" y="3554610"/>
            <a:ext cx="4853285" cy="266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09600" y="4326135"/>
            <a:ext cx="1097160" cy="266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706760" y="4326135"/>
            <a:ext cx="9107388" cy="266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783085"/>
            <a:ext cx="10972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3554610"/>
            <a:ext cx="10972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326135"/>
            <a:ext cx="10972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FINDINGS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Leading Signals: Active vs Churned Accounts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-381000" y="4821435"/>
            <a:ext cx="12954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Blue: Retained Accounts | Red: Churned Accounts (Sharp behavioural divergence observed 4 months prior)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09600" y="2506860"/>
            <a:ext cx="41195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Payment Lag (Days to Settle Invoice)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924925" y="2506860"/>
            <a:ext cx="3267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Active: 24 Days vs Churned: 68 Days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09600" y="3278385"/>
            <a:ext cx="5691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Trailing 3-Month Spend Velocity (Spend T3M / Spend Prior 3M)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229725" y="3278385"/>
            <a:ext cx="29408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Active: 1.04x vs Churned: 0.58x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09600" y="4049910"/>
            <a:ext cx="4202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Dispute &amp; Escalation Events (Trailing 6 Months)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582150" y="4049910"/>
            <a:ext cx="25003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Active: 0.3 vs Churned: 2.8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609600" y="3100387"/>
            <a:ext cx="3530649" cy="1327546"/>
          </a:xfrm>
          <a:prstGeom prst="roundRect">
            <a:avLst>
              <a:gd name="adj" fmla="val 860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330749" y="3220342"/>
            <a:ext cx="3530649" cy="1087635"/>
          </a:xfrm>
          <a:prstGeom prst="roundRect">
            <a:avLst>
              <a:gd name="adj" fmla="val 1050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051899" y="3100387"/>
            <a:ext cx="3530649" cy="1327546"/>
          </a:xfrm>
          <a:prstGeom prst="roundRect">
            <a:avLst>
              <a:gd name="adj" fmla="val 860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METHODOLOGY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Engineered Predictive Features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76300" y="3367087"/>
            <a:ext cx="39338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Spend Velocity Ratio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76300" y="3681412"/>
            <a:ext cx="309249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475569"/>
                </a:solidFill>
                <a:latin typeface="Plus Jakarta Sans"/>
              </a:rPr>
              <a:t>Trailing 3M vs prior 12M spend contraction (V_t = S_3M / S_12M).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597449" y="3487042"/>
            <a:ext cx="39338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Payment Lag Delta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597449" y="3801367"/>
            <a:ext cx="3746562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475569"/>
                </a:solidFill>
                <a:latin typeface="Plus Jakarta Sans"/>
              </a:rPr>
              <a:t>Widening delay in settling invoices (Delta L_t = L_3M - L_12M).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318599" y="3367087"/>
            <a:ext cx="38734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 Density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318599" y="3681412"/>
            <a:ext cx="309249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475569"/>
                </a:solidFill>
                <a:latin typeface="Plus Jakarta Sans"/>
              </a:rPr>
              <a:t>Concentration of service escalations and disputes over 6 months.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Google Shape;183;p19"/>
          <p:cNvGraphicFramePr/>
          <p:nvPr/>
        </p:nvGraphicFramePr>
        <p:xfrm>
          <a:off x="609600" y="2544960"/>
          <a:ext cx="10972800" cy="1971700"/>
        </p:xfrm>
        <a:graphic>
          <a:graphicData uri="http://schemas.openxmlformats.org/drawingml/2006/table">
            <a:tbl>
              <a:tblPr>
                <a:noFill/>
                <a:tableStyleId>{0C42B8A3-58A2-4B05-9D87-121BD89F4145}</a:tableStyleId>
              </a:tblPr>
              <a:tblGrid>
                <a:gridCol w="486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 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AUC-ROC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Logistic Regression (L2 Baseline)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Random Forest Classifier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XGBoost Classifier (Candidate)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0.88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4" name="Google Shape;184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PRELIMINARY MODELING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Midterm Benchmark Model Comparison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09600" y="478333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XGBoost candidate achieves 88% AUC-ROC and 81% recall under 5-Fold Stratified Cross-Validation, identifying 4 out of 5 at-risk accounts while outperforming the L2 baseline by +10% AUC.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6267450" y="2497335"/>
            <a:ext cx="531495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267450" y="3392685"/>
            <a:ext cx="531495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267450" y="4288035"/>
            <a:ext cx="5314950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DECISION-SUPPORT SYSTEM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0F172A"/>
                </a:solidFill>
                <a:latin typeface="Plus Jakarta Sans"/>
              </a:rPr>
              <a:t>Interactive Decision Workbench (Midterm Alpha Prototype)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457950" y="2649735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F172A"/>
                </a:solidFill>
                <a:latin typeface="Plus Jakarta Sans"/>
              </a:rPr>
              <a:t>Portfolio Risk Radar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457950" y="2887860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Segments and ranks 150 accounts by real-time predicted churn probability.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457950" y="3545085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F172A"/>
                </a:solidFill>
                <a:latin typeface="Plus Jakarta Sans"/>
              </a:rPr>
              <a:t>SHAP Explainability Engine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457950" y="3783210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Decomposes account risk into local SHAP feature attributions.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457950" y="4440435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F172A"/>
                </a:solidFill>
                <a:latin typeface="Plus Jakarta Sans"/>
              </a:rPr>
              <a:t>Prescriptive Action Simulator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457950" y="4678560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Simulates fee concessions and SLA recovery to project retention ROI.</a:t>
            </a:r>
            <a:endParaRPr/>
          </a:p>
        </p:txBody>
      </p:sp>
      <p:pic>
        <p:nvPicPr>
          <p:cNvPr id="203" name="Google Shape;194;p20" descr="slide8_with_sid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44910"/>
            <a:ext cx="531495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609600" y="3064073"/>
            <a:ext cx="2628900" cy="1400175"/>
          </a:xfrm>
          <a:prstGeom prst="roundRect">
            <a:avLst>
              <a:gd name="adj" fmla="val 680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390900" y="3064073"/>
            <a:ext cx="2628900" cy="1400175"/>
          </a:xfrm>
          <a:prstGeom prst="roundRect">
            <a:avLst>
              <a:gd name="adj" fmla="val 6802"/>
            </a:avLst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172200" y="3064073"/>
            <a:ext cx="2628900" cy="1400175"/>
          </a:xfrm>
          <a:prstGeom prst="roundRect">
            <a:avLst>
              <a:gd name="adj" fmla="val 680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8953500" y="3064073"/>
            <a:ext cx="2628900" cy="1400175"/>
          </a:xfrm>
          <a:prstGeom prst="roundRect">
            <a:avLst>
              <a:gd name="adj" fmla="val 680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SEMESTER MILESTONES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 to Final Deliverable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38200" y="3292673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284C7"/>
                </a:solidFill>
                <a:latin typeface="Plus Jakarta Sans"/>
              </a:rPr>
              <a:t>PHASE 1 (COMPLETED • WEEKS 1-4)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38200" y="3540323"/>
            <a:ext cx="285035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F172A"/>
                </a:solidFill>
                <a:latin typeface="Plus Jakarta Sans"/>
              </a:rPr>
              <a:t>Data &amp; Governance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38200" y="3835598"/>
            <a:ext cx="2266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Tokenized 150 accounts, processed 5,400 logs, and enforced NDA compliance.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3619500" y="3292673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284C7"/>
                </a:solidFill>
                <a:latin typeface="Plus Jakarta Sans"/>
              </a:rPr>
              <a:t>PHASE 2 (COMPLETED • WEEKS 5-7)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3619500" y="3540323"/>
            <a:ext cx="285035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F172A"/>
                </a:solidFill>
                <a:latin typeface="Plus Jakarta Sans"/>
              </a:rPr>
              <a:t>Features &amp; Alpha Tool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3619500" y="3835598"/>
            <a:ext cx="2266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Engineered 42 behavioral features; ran 5-fold CV; stood up Streamlit Alpha Prototype.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400800" y="3292673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284C7"/>
                </a:solidFill>
                <a:latin typeface="Plus Jakarta Sans"/>
              </a:rPr>
              <a:t>PHASE 3 (PLANNED • WEEKS 8-10)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400800" y="3540323"/>
            <a:ext cx="285035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F172A"/>
                </a:solidFill>
                <a:latin typeface="Plus Jakarta Sans"/>
              </a:rPr>
              <a:t>Cost &amp; Survival Tuning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400800" y="3835598"/>
            <a:ext cx="2266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Optimize decision threshold against Graylogic cost matrix; add survival hazard models.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182100" y="3292673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284C7"/>
                </a:solidFill>
                <a:latin typeface="Plus Jakarta Sans"/>
              </a:rPr>
              <a:t>PHASE 4 (PLANNED • WEEKS 11-14)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9182100" y="3540323"/>
            <a:ext cx="285035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F172A"/>
                </a:solidFill>
                <a:latin typeface="Plus Jakarta Sans"/>
              </a:rPr>
              <a:t>Hardening &amp; Defense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182100" y="3835598"/>
            <a:ext cx="2266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4748B"/>
                </a:solidFill>
                <a:latin typeface="Plus Jakarta Sans"/>
              </a:rPr>
              <a:t>Production hardening, automated reporting, executive defense, and final practicum report.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5867400" y="4527202"/>
            <a:ext cx="4572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3908245" y="2302222"/>
            <a:ext cx="43753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GEORGIA TECH OMS ANALYTICS PRACTICUM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2783695" y="2626072"/>
            <a:ext cx="662446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2286000" y="3365152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4A3B8"/>
                </a:solidFill>
                <a:latin typeface="Plus Jakarta Sans"/>
              </a:rPr>
              <a:t>Thank you for reviewing our midterm progress. We welcome faculty and Graylogic feedback on cross-validation threshold tuning and business intervention cost assumptions.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Macintosh PowerPoint</Application>
  <PresentationFormat>Widescreen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Space Grotesk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Kanukollu, Sateesh V</cp:lastModifiedBy>
  <cp:revision>1</cp:revision>
  <dcterms:modified xsi:type="dcterms:W3CDTF">2026-10-17T10:30:43Z</dcterms:modified>
</cp:coreProperties>
</file>